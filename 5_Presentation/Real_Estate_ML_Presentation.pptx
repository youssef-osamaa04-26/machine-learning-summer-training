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5th Settlement</c:v>
                </c:pt>
                <c:pt idx="1">
                  <c:v>New Cairo</c:v>
                </c:pt>
                <c:pt idx="2">
                  <c:v>Maadi</c:v>
                </c:pt>
                <c:pt idx="3">
                  <c:v>Nasr City</c:v>
                </c:pt>
                <c:pt idx="4">
                  <c:v>Sheikh Zayed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8785033</c:v>
                </c:pt>
                <c:pt idx="1">
                  <c:v>8629223</c:v>
                </c:pt>
                <c:pt idx="2">
                  <c:v>8555494</c:v>
                </c:pt>
                <c:pt idx="3">
                  <c:v>8444557</c:v>
                </c:pt>
                <c:pt idx="4">
                  <c:v>7899658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7F-4278-B0D5-28337AF704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2B-4CD5-83F2-08F50EB87A61}"/>
              </c:ext>
            </c:extLst>
          </c:dPt>
          <c:dPt>
            <c:idx val="1"/>
            <c:bubble3D val="0"/>
            <c:spPr>
              <a:solidFill>
                <a:srgbClr val="F5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2B-4CD5-83F2-08F50EB87A61}"/>
              </c:ext>
            </c:extLst>
          </c:dPt>
          <c:dPt>
            <c:idx val="2"/>
            <c:bubble3D val="0"/>
            <c:spPr>
              <a:solidFill>
                <a:srgbClr val="6C8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2B-4CD5-83F2-08F50EB87A61}"/>
              </c:ext>
            </c:extLst>
          </c:dPt>
          <c:dPt>
            <c:idx val="3"/>
            <c:bubble3D val="0"/>
            <c:spPr>
              <a:solidFill>
                <a:srgbClr val="C7D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2B-4CD5-83F2-08F50EB87A61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2B-4CD5-83F2-08F50EB87A61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2B-4CD5-83F2-08F50EB87A61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2B-4CD5-83F2-08F50EB87A61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2B-4CD5-83F2-08F50EB87A6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Apartment</c:v>
                </c:pt>
                <c:pt idx="1">
                  <c:v>Villa</c:v>
                </c:pt>
                <c:pt idx="2">
                  <c:v>Penthouse</c:v>
                </c:pt>
                <c:pt idx="3">
                  <c:v>Duplex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50.8</c:v>
                </c:pt>
                <c:pt idx="1">
                  <c:v>21.2</c:v>
                </c:pt>
                <c:pt idx="2">
                  <c:v>16.399999999999999</c:v>
                </c:pt>
                <c:pt idx="3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2B-4CD5-83F2-08F50EB87A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9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4"/>
                </a:solidFill>
                <a:latin typeface="Arial"/>
              </a:rPr>
              <a:t>R² Score by Model (higher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CC-456F-81F3-D36195E97540}"/>
              </c:ext>
            </c:extLst>
          </c:dPt>
          <c:dPt>
            <c:idx val="1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CC-456F-81F3-D36195E97540}"/>
              </c:ext>
            </c:extLst>
          </c:dPt>
          <c:dPt>
            <c:idx val="2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CC-456F-81F3-D36195E97540}"/>
              </c:ext>
            </c:extLst>
          </c:dPt>
          <c:dPt>
            <c:idx val="3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CC-456F-81F3-D36195E97540}"/>
              </c:ext>
            </c:extLst>
          </c:dPt>
          <c:dPt>
            <c:idx val="4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CC-456F-81F3-D36195E97540}"/>
              </c:ext>
            </c:extLst>
          </c:dPt>
          <c:dPt>
            <c:idx val="5"/>
            <c:invertIfNegative val="0"/>
            <c:bubble3D val="0"/>
            <c:spPr>
              <a:solidFill>
                <a:srgbClr val="F266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CC-456F-81F3-D36195E9754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 Reg.</c:v>
                </c:pt>
                <c:pt idx="1">
                  <c:v>Tuned XGB</c:v>
                </c:pt>
                <c:pt idx="2">
                  <c:v>Tuned RF</c:v>
                </c:pt>
                <c:pt idx="3">
                  <c:v>Random Forest</c:v>
                </c:pt>
                <c:pt idx="4">
                  <c:v>XGBoost</c:v>
                </c:pt>
                <c:pt idx="5">
                  <c:v>Decision Tree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-3.3000000000000002E-2</c:v>
                </c:pt>
                <c:pt idx="1">
                  <c:v>-4.3999999999999997E-2</c:v>
                </c:pt>
                <c:pt idx="2">
                  <c:v>-6.6000000000000003E-2</c:v>
                </c:pt>
                <c:pt idx="3">
                  <c:v>-0.109</c:v>
                </c:pt>
                <c:pt idx="4">
                  <c:v>-0.34499999999999997</c:v>
                </c:pt>
                <c:pt idx="5">
                  <c:v>-0.47499999999999998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CC-456F-81F3-D36195E975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5"/>
          <c:min val="-0.55000000000000004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5B9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A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V1 XGB</c:v>
                </c:pt>
                <c:pt idx="1">
                  <c:v>V1 RF</c:v>
                </c:pt>
                <c:pt idx="2">
                  <c:v>V2 RF</c:v>
                </c:pt>
                <c:pt idx="3">
                  <c:v>V2 XGB</c:v>
                </c:pt>
                <c:pt idx="4">
                  <c:v>V2 GB</c:v>
                </c:pt>
                <c:pt idx="5">
                  <c:v>V3 GB (Final)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58</c:v>
                </c:pt>
                <c:pt idx="2">
                  <c:v>56</c:v>
                </c:pt>
                <c:pt idx="3">
                  <c:v>52</c:v>
                </c:pt>
                <c:pt idx="4">
                  <c:v>62</c:v>
                </c:pt>
                <c:pt idx="5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9-4387-B142-4F9B85A76B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61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4937760"/>
            <a:ext cx="822960" cy="1920240"/>
          </a:xfrm>
          <a:prstGeom prst="rect">
            <a:avLst/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61320" y="4297680"/>
            <a:ext cx="822960" cy="256032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0" y="5394960"/>
            <a:ext cx="758952" cy="1463040"/>
          </a:xfrm>
          <a:prstGeom prst="rect">
            <a:avLst/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TRAINING  · 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
</a:t>
            </a: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Project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property prices and sale likelihood across Greater Cairo using end-to-end data science — from raw data to a live interactive web app.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411480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 team of 10  ·  Real Estate Price Predictor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623560"/>
            <a:ext cx="2331720" cy="640080"/>
          </a:xfrm>
          <a:prstGeom prst="roundRect">
            <a:avLst>
              <a:gd name="adj" fmla="val 12857"/>
            </a:avLst>
          </a:prstGeom>
          <a:solidFill>
            <a:srgbClr val="1B2E52"/>
          </a:solidFill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5623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5623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Properties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5623560"/>
            <a:ext cx="2331720" cy="640080"/>
          </a:xfrm>
          <a:prstGeom prst="roundRect">
            <a:avLst>
              <a:gd name="adj" fmla="val 12857"/>
            </a:avLst>
          </a:prstGeom>
          <a:solidFill>
            <a:srgbClr val="1B2E52"/>
          </a:solidFill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5623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77640" y="5623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Models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5623560"/>
            <a:ext cx="2331720" cy="640080"/>
          </a:xfrm>
          <a:prstGeom prst="roundRect">
            <a:avLst>
              <a:gd name="adj" fmla="val 12857"/>
            </a:avLst>
          </a:prstGeom>
          <a:solidFill>
            <a:srgbClr val="1B2E52"/>
          </a:solidFill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5623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5623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Streamlit Pages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783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80720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39896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8313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383133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Exploratory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64024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8554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855464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Predicting Price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1783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Predicting Sale Status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2715768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28072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280720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Web App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3739896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38313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383133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Team &amp; Challenges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0760" y="4764024"/>
            <a:ext cx="507492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0760" y="48554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9440" y="4855464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Two Real Questions in Real Estate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estate company needs answers to two practical questions before listing a property. This project builds machine learning models to answer both.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37360" y="2816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should it cost?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property's price (EGP_Price) from its features — a continuous numeric target.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24028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2514600"/>
            <a:ext cx="685800" cy="685800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237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23760" y="2816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it sell?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whether a property will be sold or not (Is_Sold) — a binary yes/no target.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full data science lifecycle on a realistic Greater Cairo dataset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50468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5+ algorithms and tune the best performers with GridSearchCV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8873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interactive Streamlit app for live, non-technical predictions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Sequential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stage's output feeds the next stage's input — from raw CSV to a live prediction app, built by 4 sub-teams across 10 members.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4652" y="25146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94460" y="278892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94460" y="2788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" y="3474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" y="39776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9244" y="434340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cleaned data, data dictionary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83764" y="35661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48356" y="25146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98164" y="278892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98164" y="2788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48356" y="3474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848356" y="39776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12948" y="434340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insights, 5 key charts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87468" y="35661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2060" y="25146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1868" y="278892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1868" y="2788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52060" y="3474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52060" y="39776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216652" y="434340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 Classification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91172" y="35661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55764" y="25146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05572" y="278892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05572" y="2788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55764" y="3474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55764" y="39776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420356" y="434340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Streamlit application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94876" y="35661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59468" y="25146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209276" y="278892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09276" y="2788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459468" y="3474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459468" y="39776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624060" y="434340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evaluation committee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250 properties  ·  5 districts  ·  4 property types  ·  9 features  ·  0 missing values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4612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1051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73736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24612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89504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2816352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324612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968496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20240" y="3895344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324612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04748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20240" y="4974336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 rows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737360"/>
          <a:ext cx="7498080" cy="3657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districts (Nasr City, New Cairo, Maadi, Sheikh Zayed, 5th Settlement)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 / Villa / Duplex / Penthouse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SqM_Area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area in square 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 / Bathrooms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bedrooms, 1–3 bathrooms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EGP_Price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 EGP — regression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Is_Sold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Sold? Yes/No — classification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Days_On_Market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the property was listed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CLEANING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Over Heavy Cleaning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high quality of the source data, this stage served more as a </a:t>
            </a: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step</a:t>
            </a: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an intensive cleaning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313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62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raw_data.csv loaded, shape &amp; columns checked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7992" y="2313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07992" y="2862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3172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zero missing values in any column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4464" y="2313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84464" y="2862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31729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zero duplicate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005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 types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8646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the data dictionary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3840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07992" y="4005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07992" y="4553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7992" y="48646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 for every numeric column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3840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84464" y="4005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84464" y="4553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clean copy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4464" y="48646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cleaned_data.csv for all later stages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1736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Settlement leads pricing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19293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price at EGP 8,785,033 — Sheikh Zayed lowest at 7,899,658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736" dirty="0"/>
          </a:p>
        </p:txBody>
      </p:sp>
      <p:sp>
        <p:nvSpPr>
          <p:cNvPr id="10" name="Text 8"/>
          <p:cNvSpPr/>
          <p:nvPr/>
        </p:nvSpPr>
        <p:spPr>
          <a:xfrm>
            <a:off x="1325880" y="25420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 dominate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28895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 of all listings (127 of 250) — Duplex is rarest at 11.6%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736" dirty="0"/>
          </a:p>
        </p:txBody>
      </p:sp>
      <p:sp>
        <p:nvSpPr>
          <p:cNvPr id="14" name="Text 12"/>
          <p:cNvSpPr/>
          <p:nvPr/>
        </p:nvSpPr>
        <p:spPr>
          <a:xfrm>
            <a:off x="1325880" y="35021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barely predicts price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38496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area and price is just r = 0.059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736" dirty="0"/>
          </a:p>
        </p:txBody>
      </p:sp>
      <p:sp>
        <p:nvSpPr>
          <p:cNvPr id="18" name="Text 16"/>
          <p:cNvSpPr/>
          <p:nvPr/>
        </p:nvSpPr>
        <p:spPr>
          <a:xfrm>
            <a:off x="1325880" y="44622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detected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48097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1.5×IQR rule found no outliers across numeric columns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08776" y="1545336"/>
            <a:ext cx="5504688" cy="4590288"/>
          </a:xfrm>
          <a:prstGeom prst="roundRect">
            <a:avLst>
              <a:gd name="adj" fmla="val 1793"/>
            </a:avLst>
          </a:prstGeom>
          <a:solidFill>
            <a:srgbClr val="1B2E52"/>
          </a:solidFill>
          <a:ln/>
          <a:effectLst>
            <a:outerShdw blurRad="127000" dist="38100" dir="5400000" algn="bl" rotWithShape="0">
              <a:srgbClr val="0A122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0" descr="/home/claude/re_pptx/images/crop_eda_char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3640" y="1600200"/>
            <a:ext cx="5394960" cy="4480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by Location &amp; Property Mix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Location (EGP)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Distribution</a:t>
            </a:r>
            <a:endParaRPr lang="en-US" sz="12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1874520"/>
          <a:ext cx="5257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Property Price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3-member modeling team worked across sequential notebooks, each building on the last.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Property_ID (no predictive value)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Is_Sold as 1/0; One-Hot Encoded Location &amp; Property_Type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split, random_state=42 for reproducibility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only before Linear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42245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2316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42245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7274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727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47274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23160" y="4727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47274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4727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cross-validation tuned XGBoost (n_estimators, learning_rate, max_depth) and Random Forest (n_estimators, max_depth, min_samples_split).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192024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13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[100, 200, 300]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learning_rate: [0.01, 0.05, 0.1]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[3, 5, 7]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3840480"/>
            <a:ext cx="452628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66560" y="43434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[100, 200]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[5, 10, 15]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min_samples_split: [2, 5]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5486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MAE, RMSE, and R² on the held-out test set.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An Honest Negative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7607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60020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7665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665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3,157,737   </a:t>
            </a: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RMSE 3,866,100   </a:t>
            </a:r>
            <a:r>
              <a:rPr lang="en-US" sz="1150" b="1" dirty="0">
                <a:solidFill>
                  <a:srgbClr val="F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R² -0.033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NEGATIVE R²?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35661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R² means a model performs worse than simply predicting the average price every time. This reflects the </a:t>
            </a:r>
            <a:r>
              <a:rPr lang="en-US" sz="1150" b="1" dirty="0">
                <a:solidFill>
                  <a:srgbClr val="F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correlation</a:t>
            </a: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available features and price (area↔price r = 0.059) — not a coding error.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92240" y="4617720"/>
            <a:ext cx="5166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won. </a:t>
            </a: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(Decision Tree, untuned XGBoost) overfit random training patterns on this small 250-row dataset — tuning helped, but couldn't overcome the data's weak signal.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Features, Then Classifying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engineered features were added before tackling Is_Sold — capturing composite patterns the raw columns missed.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Total_Rooms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1488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Area_per_Bedroom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7490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Ratio_Bathroom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3492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Is_Luxury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9494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Price_per_SqM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5496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496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Is_Expensive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0149840" y="19659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9525">
            <a:solidFill>
              <a:srgbClr val="0E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149840" y="19659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Category_Days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VERSIONS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18211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182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1363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136392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XGBoost on original features, Stratified Split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1879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Engineering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4187952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(300 trees, balanced), Gradient Boosting, XGBoost with scale_pos_weight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" y="528523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285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52395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Cross-Validation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5239512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CV, best model retrained on final 80/20 split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 Accuracy — Reading the Confusion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5001768" cy="4407408"/>
          </a:xfrm>
          <a:prstGeom prst="roundRect">
            <a:avLst>
              <a:gd name="adj" fmla="val 1867"/>
            </a:avLst>
          </a:prstGeom>
          <a:solidFill>
            <a:srgbClr val="1B2E52"/>
          </a:solidFill>
          <a:ln/>
          <a:effectLst>
            <a:outerShdw blurRad="127000" dist="38100" dir="5400000" algn="bl" rotWithShape="0">
              <a:srgbClr val="0A122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re_pptx/images/crop_confusio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48920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BY VERSION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760720" y="2011680"/>
          <a:ext cx="5852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416052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89320" y="43159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Gradient Boosting  </a:t>
            </a: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62% test accuracy, 54.8% avg CV accuracy.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989320" y="48463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25/30 "Not Sold" but only 6/20 "Sold" properties (~30% recall on the minority class) — despite class_weight and scale_pos_weight balancing.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INTERACTIVE WEB APP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Estate Predictor — Streamlit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app built with Streamlit lets any non-technical user get instant predictions from the saved models.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1865376"/>
            <a:ext cx="5321808" cy="3355848"/>
          </a:xfrm>
          <a:prstGeom prst="roundRect">
            <a:avLst>
              <a:gd name="adj" fmla="val 2452"/>
            </a:avLst>
          </a:prstGeom>
          <a:solidFill>
            <a:srgbClr val="1B2E52"/>
          </a:solidFill>
          <a:ln/>
          <a:effectLst>
            <a:outerShdw blurRad="127000" dist="38100" dir="5400000" algn="bl" rotWithShape="0">
              <a:srgbClr val="0A122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re_pptx/images/crop_hom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521208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852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project overview &amp; key figures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0176" y="1865376"/>
            <a:ext cx="5687568" cy="1645920"/>
          </a:xfrm>
          <a:prstGeom prst="roundRect">
            <a:avLst>
              <a:gd name="adj" fmla="val 5000"/>
            </a:avLst>
          </a:prstGeom>
          <a:solidFill>
            <a:srgbClr val="1B2E52"/>
          </a:solidFill>
          <a:ln/>
          <a:effectLst>
            <a:outerShdw blurRad="127000" dist="38100" dir="5400000" algn="bl" rotWithShape="0">
              <a:srgbClr val="0A122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re_pptx/images/crop_price_resul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1920240"/>
            <a:ext cx="5577840" cy="1536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3520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— live estimate (Linear Regression)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80176" y="3831336"/>
            <a:ext cx="5687568" cy="1645920"/>
          </a:xfrm>
          <a:prstGeom prst="roundRect">
            <a:avLst>
              <a:gd name="adj" fmla="val 5000"/>
            </a:avLst>
          </a:prstGeom>
          <a:solidFill>
            <a:srgbClr val="1B2E52"/>
          </a:solidFill>
          <a:ln/>
          <a:effectLst>
            <a:outerShdw blurRad="127000" dist="38100" dir="5400000" algn="bl" rotWithShape="0">
              <a:srgbClr val="0A122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re_pptx/images/crop_sold_result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5040" y="3886200"/>
            <a:ext cx="5577840" cy="15361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54681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Is_Sold Classification — sale-probability estimate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48640" y="614476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     •  Price Prediction     •  Is_Sold Classification     •  EDA Insights     •  Models Comparison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TEAM &amp;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Ten, Limited by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03520" cy="1965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EDA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Cleaning, exploratory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+ classification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app + custom CSS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&amp; committee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2519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59152" y="42519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359152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69664" y="42519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69664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5" name="Shape 12"/>
          <p:cNvSpPr/>
          <p:nvPr/>
        </p:nvSpPr>
        <p:spPr>
          <a:xfrm>
            <a:off x="2359152" y="47091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59152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69664" y="47091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169664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51663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663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359152" y="51663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3D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359152" y="51663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63640" y="14630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3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37960" y="1664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379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</a:rPr>
              <a:t>▸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23682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250 properties — ~200 train / 50 test — sensitive to random fluctuation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537960" y="3099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</a:rPr>
              <a:t>▸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0" y="30998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feature-price link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34107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location, type poorly explain price variation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537960" y="4142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</a:rPr>
              <a:t>▸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58000" y="41422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0" y="44531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"Sold" than "Not Sold" hurt minority-class recall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3796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</a:rPr>
              <a:t>▸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858000" y="5184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real-world features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58000" y="549554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floor number, finishing, transit proximity, or building age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ML Project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Over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quantitative results were modest — negative R² on price, 62% accuracy on sale status — </a:t>
            </a: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project's real value is the process: </a:t>
            </a:r>
            <a:r>
              <a:rPr lang="en-US" sz="13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analyzing data rigorously, comparing algorithms scientifically, understanding weak performance instead of hiding it, and shipping a working interactive product.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few hundred more properties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279392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real-world features (floor, finishing, transit)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626864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SMOTE, LightGBM/CatBoost, and Nested CV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974336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Community 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92024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1B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2194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281160" y="2194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analyzed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3090672"/>
            <a:ext cx="352044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0" y="3154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3154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&amp; compared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4050792"/>
            <a:ext cx="352044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0" y="41148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8116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classification accuracy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5010912"/>
            <a:ext cx="3520440" cy="0"/>
          </a:xfrm>
          <a:prstGeom prst="line">
            <a:avLst/>
          </a:prstGeom>
          <a:noFill/>
          <a:ln w="9525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0749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81160" y="5074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pages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989320"/>
            <a:ext cx="10561320" cy="0"/>
          </a:xfrm>
          <a:prstGeom prst="line">
            <a:avLst/>
          </a:prstGeom>
          <a:noFill/>
          <a:ln w="12700">
            <a:solidFill>
              <a:srgbClr val="2A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Real Estate ML Project  ·  Data Analyst Training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1517</Words>
  <Application>Microsoft Office PowerPoint</Application>
  <PresentationFormat>Widescreen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Osamaa Awad</cp:lastModifiedBy>
  <cp:revision>2</cp:revision>
  <dcterms:created xsi:type="dcterms:W3CDTF">2026-09-21T23:44:59Z</dcterms:created>
  <dcterms:modified xsi:type="dcterms:W3CDTF">2026-09-22T07:17:57Z</dcterms:modified>
</cp:coreProperties>
</file>